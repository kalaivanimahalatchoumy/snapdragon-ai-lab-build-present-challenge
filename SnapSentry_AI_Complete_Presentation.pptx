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>
            <a:off x="9646920" y="2331720"/>
            <a:ext cx="1463040" cy="1325880"/>
          </a:xfrm>
          <a:prstGeom prst="hexagon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9902952" y="2551176"/>
            <a:ext cx="950976" cy="886968"/>
          </a:xfrm>
          <a:prstGeom prst="hexagon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680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dirty="0" err="1">
                <a:solidFill>
                  <a:srgbClr val="F4F7FB"/>
                </a:solidFill>
                <a:latin typeface="Segoe UI"/>
              </a:rPr>
              <a:t>SnapSentry</a:t>
            </a:r>
            <a:r>
              <a:rPr sz="6600" b="1" dirty="0">
                <a:solidFill>
                  <a:srgbClr val="F4F7FB"/>
                </a:solidFill>
                <a:latin typeface="Segoe UI"/>
              </a:rPr>
              <a:t>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680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dirty="0">
                <a:solidFill>
                  <a:srgbClr val="2DD4BF"/>
                </a:solidFill>
                <a:latin typeface="Segoe UI"/>
              </a:rPr>
              <a:t>Autonomous On-Device Multimodal Defense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7589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6B8"/>
                </a:solidFill>
                <a:latin typeface="Segoe UI"/>
              </a:rPr>
              <a:t>Real-Time Deepfake Voice Interceptor  •  Screen Phishing Guard  •  Social Engineering Shield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6B8"/>
                </a:solidFill>
                <a:latin typeface="Segoe UI"/>
              </a:rPr>
              <a:t>for Snapdragon HP PCs — 100% local, private, and always-on.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92040"/>
            <a:ext cx="1783080" cy="96012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DD4BF"/>
                </a:solidFill>
                <a:latin typeface="Segoe UI"/>
              </a:rPr>
              <a:t>&lt; 30 ms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Response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892040"/>
            <a:ext cx="1783080" cy="96012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97480" y="502920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DD4BF"/>
                </a:solidFill>
                <a:latin typeface="Segoe UI"/>
              </a:rPr>
              <a:t>1.75 W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Power Draw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4892040"/>
            <a:ext cx="1783080" cy="96012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502920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DD4BF"/>
                </a:solidFill>
                <a:latin typeface="Segoe UI"/>
              </a:rPr>
              <a:t>45 TOPS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Hexagon NPU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892040"/>
            <a:ext cx="1783080" cy="96012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502920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DD4BF"/>
                </a:solidFill>
                <a:latin typeface="Segoe UI"/>
              </a:rPr>
              <a:t>100%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On-Device / Air-Gapped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7FB"/>
                </a:solidFill>
                <a:latin typeface="Segoe UI"/>
              </a:rPr>
              <a:t>Cyber Threats Have Gone Real-Time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972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AA6B8"/>
                </a:solidFill>
                <a:latin typeface="Segoe UI"/>
              </a:rPr>
              <a:t>Generative AI has turned attacks from slow, static scripts into dynamic, real-time assaults —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9AA6B8"/>
                </a:solidFill>
                <a:latin typeface="Segoe UI"/>
              </a:rPr>
              <a:t>tricking professionals out of credentials in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697480"/>
            <a:ext cx="45720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3154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4F7FB"/>
                </a:solidFill>
                <a:latin typeface="Segoe UI"/>
              </a:rPr>
              <a:t>🎙️  Voice Cloning Scams</a:t>
            </a:r>
          </a:p>
          <a:p>
            <a:pPr algn="l">
              <a:lnSpc>
                <a:spcPct val="115000"/>
              </a:lnSpc>
            </a:pPr>
            <a:endParaRPr sz="1700" b="1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6B8"/>
                </a:solidFill>
                <a:latin typeface="Segoe UI"/>
              </a:rPr>
              <a:t>Audio deepfakes impersonate CEOs, family members, and IT staff — trusted voices become attack vectors.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46888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2697480"/>
            <a:ext cx="457200" cy="54864"/>
          </a:xfrm>
          <a:prstGeom prst="rect">
            <a:avLst/>
          </a:prstGeom>
          <a:solidFill>
            <a:srgbClr val="F5B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880360"/>
            <a:ext cx="3154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4F7FB"/>
                </a:solidFill>
                <a:latin typeface="Segoe UI"/>
              </a:rPr>
              <a:t>🖥️  On-Screen Phishing</a:t>
            </a:r>
          </a:p>
          <a:p>
            <a:pPr algn="l">
              <a:lnSpc>
                <a:spcPct val="115000"/>
              </a:lnSpc>
            </a:pPr>
            <a:endParaRPr sz="1700" b="1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6B8"/>
                </a:solidFill>
                <a:latin typeface="Segoe UI"/>
              </a:rPr>
              <a:t>Deceptive overlays, malicious QR codes, and fake credential prompts sit right on the user's desktop.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6888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2697480"/>
            <a:ext cx="45720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880360"/>
            <a:ext cx="3154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4F7FB"/>
                </a:solidFill>
                <a:latin typeface="Segoe UI"/>
              </a:rPr>
              <a:t>🧠  Social Engineering</a:t>
            </a:r>
          </a:p>
          <a:p>
            <a:pPr algn="l">
              <a:lnSpc>
                <a:spcPct val="115000"/>
              </a:lnSpc>
            </a:pPr>
            <a:endParaRPr sz="1700" b="1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6B8"/>
                </a:solidFill>
                <a:latin typeface="Segoe UI"/>
              </a:rPr>
              <a:t>Live calls pressure victims into sharing 2FA tokens or installing remote-desktop tools mid-conversation.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09160"/>
            <a:ext cx="10972800" cy="11430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919472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6B6B"/>
                </a:solidFill>
                <a:latin typeface="Segoe UI"/>
              </a:rPr>
              <a:t>⚠  Why this matters: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4F7FB"/>
                </a:solidFill>
                <a:latin typeface="Segoe UI"/>
              </a:rPr>
              <a:t>Detection is not enough — the window to act is under 50 ms. Every second of cloud latency is a second the scammer owns.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THE EDGE-ONLY IMPERATIVE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7FB"/>
                </a:solidFill>
                <a:latin typeface="Segoe UI"/>
              </a:rPr>
              <a:t>Why Cloud Security Fails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972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7863840" cy="132588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09928"/>
            <a:ext cx="64008" cy="110642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46504"/>
            <a:ext cx="7406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F7FB"/>
                </a:solidFill>
                <a:latin typeface="Segoe UI"/>
              </a:rPr>
              <a:t>🔒  The Privacy Barrier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9AA6B8"/>
                </a:solidFill>
                <a:latin typeface="Segoe UI"/>
              </a:rPr>
              <a:t>Continuous desktop video and conference audio can never be streamed to third-party cloud APIs — corporate policy forbids it. Protection must live on-device.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81528"/>
            <a:ext cx="7863840" cy="132588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191256"/>
            <a:ext cx="64008" cy="1106424"/>
          </a:xfrm>
          <a:prstGeom prst="rect">
            <a:avLst/>
          </a:prstGeom>
          <a:solidFill>
            <a:srgbClr val="F5B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227832"/>
            <a:ext cx="7406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F7FB"/>
                </a:solidFill>
                <a:latin typeface="Segoe UI"/>
              </a:rPr>
              <a:t>⚡  The Latency Penalty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9AA6B8"/>
                </a:solidFill>
                <a:latin typeface="Segoe UI"/>
              </a:rPr>
              <a:t>Voice-cloned extortion and urgent 2FA theft demand detection in &lt; 50 ms. Cloud round-trips add 500–2000 ms — far too late to intervene.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62856"/>
            <a:ext cx="7863840" cy="132588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672584"/>
            <a:ext cx="64008" cy="110642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7406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F7FB"/>
                </a:solidFill>
                <a:latin typeface="Segoe UI"/>
              </a:rPr>
              <a:t>🔥  The Thermal &amp; Battery Wall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9AA6B8"/>
                </a:solidFill>
                <a:latin typeface="Segoe UI"/>
              </a:rPr>
              <a:t>Continuous vision + audio on x86 CPUs burns 25–45 W, spins up fans, and kills battery in under 90 minutes. Only a dedicated NPU sustains this workload all 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600200"/>
            <a:ext cx="2834640" cy="443484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0" y="1874519"/>
            <a:ext cx="2331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THE VERDICT</a:t>
            </a:r>
          </a:p>
          <a:p>
            <a:pPr algn="l">
              <a:lnSpc>
                <a:spcPct val="125000"/>
              </a:lnSpc>
            </a:pPr>
            <a:endParaRPr sz="1300" b="1">
              <a:solidFill>
                <a:srgbClr val="2DD4BF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4F7FB"/>
                </a:solidFill>
                <a:latin typeface="Segoe UI"/>
              </a:rPr>
              <a:t>Cloud can't protect the live microphone and screen.</a:t>
            </a:r>
          </a:p>
          <a:p>
            <a:pPr algn="l">
              <a:lnSpc>
                <a:spcPct val="125000"/>
              </a:lnSpc>
            </a:pPr>
            <a:endParaRPr sz="1400" b="0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4F7FB"/>
                </a:solidFill>
                <a:latin typeface="Segoe UI"/>
              </a:rPr>
              <a:t>CPU can't sustain it.</a:t>
            </a:r>
          </a:p>
          <a:p>
            <a:pPr algn="l">
              <a:lnSpc>
                <a:spcPct val="125000"/>
              </a:lnSpc>
            </a:pPr>
            <a:endParaRPr sz="1400" b="0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DD4BF"/>
                </a:solidFill>
                <a:latin typeface="Segoe UI"/>
              </a:rPr>
              <a:t>Only the Snapdragon Hexagon NPU — 45 TOPS at laptop power — makes real-time, always-on, private endpoint defense 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7FB"/>
                </a:solidFill>
                <a:latin typeface="Segoe UI"/>
              </a:rPr>
              <a:t>SnapSentry AI: An Unbreachable, Air-Gapped Shield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972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6B8"/>
                </a:solidFill>
                <a:latin typeface="Segoe UI"/>
              </a:rPr>
              <a:t>One tri-model pipeline, orchestrated entirely on the Hexagon NPU — continuous protection with zero data ever leaving the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468880"/>
            <a:ext cx="54864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DD4BF"/>
                </a:solidFill>
                <a:latin typeface="Segoe UI"/>
              </a:rPr>
              <a:t>VOICERADAR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F4F7FB"/>
                </a:solidFill>
                <a:latin typeface="Segoe UI"/>
              </a:rPr>
              <a:t>Deepfake Voice Interceptor</a:t>
            </a:r>
          </a:p>
          <a:p>
            <a:pPr algn="l">
              <a:lnSpc>
                <a:spcPct val="115000"/>
              </a:lnSpc>
            </a:pPr>
            <a:endParaRPr sz="1350" b="1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6B8"/>
                </a:solidFill>
                <a:latin typeface="Segoe UI"/>
              </a:rPr>
              <a:t>Conformer / Whisper-Tiny (W8A8) analyzes incoming audio for vocoder artifacts and synthetic harmonic phase anomalies — sub-20 ms per buffer.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4028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2468880"/>
            <a:ext cx="548640" cy="54864"/>
          </a:xfrm>
          <a:prstGeom prst="rect">
            <a:avLst/>
          </a:prstGeom>
          <a:solidFill>
            <a:srgbClr val="F5B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B142"/>
                </a:solidFill>
                <a:latin typeface="Segoe UI"/>
              </a:rPr>
              <a:t>VISUAL INTERCEPTOR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F4F7FB"/>
                </a:solidFill>
                <a:latin typeface="Segoe UI"/>
              </a:rPr>
              <a:t>Screen Phishing Guard</a:t>
            </a:r>
          </a:p>
          <a:p>
            <a:pPr algn="l">
              <a:lnSpc>
                <a:spcPct val="115000"/>
              </a:lnSpc>
            </a:pPr>
            <a:endParaRPr sz="1350" b="1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6B8"/>
                </a:solidFill>
                <a:latin typeface="Segoe UI"/>
              </a:rPr>
              <a:t>YOLOv11-Nano / MobileNet (INT8) scans active desktop frames at 15 FPS, flagging phishing overlays, malicious QR codes, and command-prompt injections.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4028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2468880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651760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6B6B"/>
                </a:solidFill>
                <a:latin typeface="Segoe UI"/>
              </a:rPr>
              <a:t>CONVERSATIONAL GUARD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F4F7FB"/>
                </a:solidFill>
                <a:latin typeface="Segoe UI"/>
              </a:rPr>
              <a:t>Social Engineering Shield</a:t>
            </a:r>
          </a:p>
          <a:p>
            <a:pPr algn="l">
              <a:lnSpc>
                <a:spcPct val="115000"/>
              </a:lnSpc>
            </a:pPr>
            <a:endParaRPr sz="1350" b="1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6B8"/>
                </a:solidFill>
                <a:latin typeface="Segoe UI"/>
              </a:rPr>
              <a:t>Llama 3.2 1B / Phi-3.5-mini (INT4, QNN GenAI) parses live transcripts to detect coercion patterns — 2FA demands, remote-desk installation requests.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57800"/>
            <a:ext cx="10972800" cy="100584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45896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EXECUTION STACK   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7FB"/>
                </a:solidFill>
                <a:latin typeface="Segoe UI"/>
              </a:rPr>
              <a:t>Qualcomm AI Hub models  →  ONNX Runtime with QNN Execution Provider  →  Hexagon HTP backend  →  Snapdragon X Elite / Plus (HP OmniBook)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7FB"/>
                </a:solidFill>
                <a:latin typeface="Segoe UI"/>
              </a:rPr>
              <a:t>Tri-Model Pipeline on the Hexagon NPU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972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468880" cy="155448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810512"/>
            <a:ext cx="4114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4F7FB"/>
                </a:solidFill>
                <a:latin typeface="Segoe UI"/>
              </a:rPr>
              <a:t>🎤 Live Audio</a:t>
            </a:r>
          </a:p>
          <a:p>
            <a:pPr algn="l">
              <a:lnSpc>
                <a:spcPct val="110000"/>
              </a:lnSpc>
            </a:pPr>
            <a:r>
              <a:rPr sz="1150" b="1">
                <a:solidFill>
                  <a:srgbClr val="2DD4BF"/>
                </a:solidFill>
                <a:latin typeface="Segoe UI"/>
              </a:rPr>
              <a:t>Mic / Call Audio</a:t>
            </a:r>
          </a:p>
          <a:p>
            <a:pPr algn="l">
              <a:lnSpc>
                <a:spcPct val="110000"/>
              </a:lnSpc>
            </a:pPr>
            <a:endParaRPr sz="1150" b="1">
              <a:solidFill>
                <a:srgbClr val="2DD4BF"/>
              </a:solidFill>
              <a:latin typeface="Segoe UI"/>
            </a:endParaRP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VoIP + conference calls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Ring buffers, 20 ms windows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645920"/>
            <a:ext cx="2468880" cy="155448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74920" y="1810512"/>
            <a:ext cx="411480" cy="54864"/>
          </a:xfrm>
          <a:prstGeom prst="rect">
            <a:avLst/>
          </a:prstGeom>
          <a:solidFill>
            <a:srgbClr val="F5B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196596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4F7FB"/>
                </a:solidFill>
                <a:latin typeface="Segoe UI"/>
              </a:rPr>
              <a:t>🖥️ Desktop Frames</a:t>
            </a:r>
          </a:p>
          <a:p>
            <a:pPr algn="l">
              <a:lnSpc>
                <a:spcPct val="110000"/>
              </a:lnSpc>
            </a:pPr>
            <a:r>
              <a:rPr sz="1150" b="1">
                <a:solidFill>
                  <a:srgbClr val="F5B142"/>
                </a:solidFill>
                <a:latin typeface="Segoe UI"/>
              </a:rPr>
              <a:t>Screen Capture 15 FPS</a:t>
            </a:r>
          </a:p>
          <a:p>
            <a:pPr algn="l">
              <a:lnSpc>
                <a:spcPct val="110000"/>
              </a:lnSpc>
            </a:pPr>
            <a:endParaRPr sz="1150" b="1">
              <a:solidFill>
                <a:srgbClr val="F5B142"/>
              </a:solidFill>
              <a:latin typeface="Segoe UI"/>
            </a:endParaRP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Active UI screenshots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Credential field zones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45920"/>
            <a:ext cx="2468880" cy="155448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326880" y="1810512"/>
            <a:ext cx="41148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96596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4F7FB"/>
                </a:solidFill>
                <a:latin typeface="Segoe UI"/>
              </a:rPr>
              <a:t>💬 Live Transcript</a:t>
            </a:r>
          </a:p>
          <a:p>
            <a:pPr algn="l">
              <a:lnSpc>
                <a:spcPct val="110000"/>
              </a:lnSpc>
            </a:pPr>
            <a:r>
              <a:rPr sz="1150" b="1">
                <a:solidFill>
                  <a:srgbClr val="FF6B6B"/>
                </a:solidFill>
                <a:latin typeface="Segoe UI"/>
              </a:rPr>
              <a:t>Streaming ASR text</a:t>
            </a:r>
          </a:p>
          <a:p>
            <a:pPr algn="l">
              <a:lnSpc>
                <a:spcPct val="110000"/>
              </a:lnSpc>
            </a:pPr>
            <a:endParaRPr sz="1150" b="1">
              <a:solidFill>
                <a:srgbClr val="FF6B6B"/>
              </a:solidFill>
              <a:latin typeface="Segoe UI"/>
            </a:endParaRP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Caller conversation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Chat / meeting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2468880" cy="1869498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3822192"/>
            <a:ext cx="4114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977640"/>
            <a:ext cx="2103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4F7FB"/>
                </a:solidFill>
                <a:latin typeface="Segoe UI"/>
              </a:rPr>
              <a:t>VoiceRadar</a:t>
            </a:r>
          </a:p>
          <a:p>
            <a:pPr algn="l">
              <a:lnSpc>
                <a:spcPct val="110000"/>
              </a:lnSpc>
            </a:pPr>
            <a:r>
              <a:rPr sz="1150" b="1">
                <a:solidFill>
                  <a:srgbClr val="2DD4BF"/>
                </a:solidFill>
                <a:latin typeface="Segoe UI"/>
              </a:rPr>
              <a:t>Conformer · W8A8 HTP</a:t>
            </a:r>
          </a:p>
          <a:p>
            <a:pPr algn="l">
              <a:lnSpc>
                <a:spcPct val="110000"/>
              </a:lnSpc>
            </a:pPr>
            <a:endParaRPr sz="1150" b="1">
              <a:solidFill>
                <a:srgbClr val="2DD4BF"/>
              </a:solidFill>
              <a:latin typeface="Segoe UI"/>
            </a:endParaRP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Anti-spoof scoring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Vocoder artifact + phase-anomaly detect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Sub-20 ms per buffer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3657600"/>
            <a:ext cx="2468880" cy="1869498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74920" y="3822192"/>
            <a:ext cx="411480" cy="54864"/>
          </a:xfrm>
          <a:prstGeom prst="rect">
            <a:avLst/>
          </a:prstGeom>
          <a:solidFill>
            <a:srgbClr val="F5B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4920" y="3977640"/>
            <a:ext cx="2103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dirty="0">
                <a:solidFill>
                  <a:srgbClr val="F4F7FB"/>
                </a:solidFill>
                <a:latin typeface="Segoe UI"/>
              </a:rPr>
              <a:t>Visual Interceptor</a:t>
            </a:r>
          </a:p>
          <a:p>
            <a:pPr algn="l">
              <a:lnSpc>
                <a:spcPct val="110000"/>
              </a:lnSpc>
            </a:pPr>
            <a:r>
              <a:rPr sz="1150" b="1" dirty="0">
                <a:solidFill>
                  <a:srgbClr val="F5B142"/>
                </a:solidFill>
                <a:latin typeface="Segoe UI"/>
              </a:rPr>
              <a:t>YOLOv11-Nano · INT8</a:t>
            </a:r>
          </a:p>
          <a:p>
            <a:pPr algn="l">
              <a:lnSpc>
                <a:spcPct val="110000"/>
              </a:lnSpc>
            </a:pPr>
            <a:endParaRPr sz="1150" b="1" dirty="0">
              <a:solidFill>
                <a:srgbClr val="F5B142"/>
              </a:solidFill>
              <a:latin typeface="Segoe UI"/>
            </a:endParaRPr>
          </a:p>
          <a:p>
            <a:pPr algn="l">
              <a:lnSpc>
                <a:spcPct val="110000"/>
              </a:lnSpc>
            </a:pPr>
            <a:r>
              <a:rPr sz="1100" b="0" dirty="0">
                <a:solidFill>
                  <a:srgbClr val="9AA6B8"/>
                </a:solidFill>
                <a:latin typeface="Segoe UI"/>
              </a:rPr>
              <a:t>UI threat detection</a:t>
            </a:r>
          </a:p>
          <a:p>
            <a:pPr algn="l">
              <a:lnSpc>
                <a:spcPct val="110000"/>
              </a:lnSpc>
            </a:pPr>
            <a:r>
              <a:rPr sz="1100" b="0" dirty="0">
                <a:solidFill>
                  <a:srgbClr val="9AA6B8"/>
                </a:solidFill>
                <a:latin typeface="Segoe UI"/>
              </a:rPr>
              <a:t>Phish overlays · QR · </a:t>
            </a:r>
            <a:r>
              <a:rPr sz="1100" b="0" dirty="0" err="1">
                <a:solidFill>
                  <a:srgbClr val="9AA6B8"/>
                </a:solidFill>
                <a:latin typeface="Segoe UI"/>
              </a:rPr>
              <a:t>cmd</a:t>
            </a:r>
            <a:r>
              <a:rPr sz="1100" b="0" dirty="0">
                <a:solidFill>
                  <a:srgbClr val="9AA6B8"/>
                </a:solidFill>
                <a:latin typeface="Segoe UI"/>
              </a:rPr>
              <a:t> injection</a:t>
            </a:r>
          </a:p>
          <a:p>
            <a:pPr algn="l">
              <a:lnSpc>
                <a:spcPct val="110000"/>
              </a:lnSpc>
            </a:pPr>
            <a:r>
              <a:rPr sz="1100" b="0" dirty="0">
                <a:solidFill>
                  <a:srgbClr val="9AA6B8"/>
                </a:solidFill>
                <a:latin typeface="Segoe UI"/>
              </a:rPr>
              <a:t>15 FPS on NPU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3657600"/>
            <a:ext cx="2468880" cy="2029968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326880" y="3822192"/>
            <a:ext cx="41148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3977640"/>
            <a:ext cx="2103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dirty="0">
                <a:solidFill>
                  <a:srgbClr val="F4F7FB"/>
                </a:solidFill>
                <a:latin typeface="Segoe UI"/>
              </a:rPr>
              <a:t>Conversational Guard</a:t>
            </a:r>
          </a:p>
          <a:p>
            <a:pPr algn="l">
              <a:lnSpc>
                <a:spcPct val="110000"/>
              </a:lnSpc>
            </a:pPr>
            <a:r>
              <a:rPr sz="1150" b="1" dirty="0">
                <a:solidFill>
                  <a:srgbClr val="FF6B6B"/>
                </a:solidFill>
                <a:latin typeface="Segoe UI"/>
              </a:rPr>
              <a:t>Llama 3.2 1B · INT4 GenAI</a:t>
            </a:r>
          </a:p>
          <a:p>
            <a:pPr algn="l">
              <a:lnSpc>
                <a:spcPct val="110000"/>
              </a:lnSpc>
            </a:pPr>
            <a:endParaRPr sz="1150" b="1" dirty="0">
              <a:solidFill>
                <a:srgbClr val="FF6B6B"/>
              </a:solidFill>
              <a:latin typeface="Segoe UI"/>
            </a:endParaRPr>
          </a:p>
          <a:p>
            <a:pPr algn="l">
              <a:lnSpc>
                <a:spcPct val="110000"/>
              </a:lnSpc>
            </a:pPr>
            <a:r>
              <a:rPr sz="1100" b="0" dirty="0">
                <a:solidFill>
                  <a:srgbClr val="9AA6B8"/>
                </a:solidFill>
                <a:latin typeface="Segoe UI"/>
              </a:rPr>
              <a:t>Intent reasoning</a:t>
            </a:r>
          </a:p>
          <a:p>
            <a:pPr algn="l">
              <a:lnSpc>
                <a:spcPct val="110000"/>
              </a:lnSpc>
            </a:pPr>
            <a:r>
              <a:rPr sz="1100" b="0" dirty="0">
                <a:solidFill>
                  <a:srgbClr val="9AA6B8"/>
                </a:solidFill>
                <a:latin typeface="Segoe UI"/>
              </a:rPr>
              <a:t>Social-engineering pattern detect</a:t>
            </a:r>
          </a:p>
          <a:p>
            <a:pPr algn="l">
              <a:lnSpc>
                <a:spcPct val="110000"/>
              </a:lnSpc>
            </a:pPr>
            <a:r>
              <a:rPr sz="1100" b="0" dirty="0">
                <a:solidFill>
                  <a:srgbClr val="9AA6B8"/>
                </a:solidFill>
                <a:latin typeface="Segoe UI"/>
              </a:rPr>
              <a:t>Real-time streaming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874519" y="3218688"/>
            <a:ext cx="411480" cy="438912"/>
          </a:xfrm>
          <a:prstGeom prst="down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Down Arrow 26"/>
          <p:cNvSpPr/>
          <p:nvPr/>
        </p:nvSpPr>
        <p:spPr>
          <a:xfrm>
            <a:off x="6126480" y="3218688"/>
            <a:ext cx="411480" cy="438912"/>
          </a:xfrm>
          <a:prstGeom prst="down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own Arrow 27"/>
          <p:cNvSpPr/>
          <p:nvPr/>
        </p:nvSpPr>
        <p:spPr>
          <a:xfrm>
            <a:off x="10378440" y="3218688"/>
            <a:ext cx="411480" cy="438912"/>
          </a:xfrm>
          <a:prstGeom prst="down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5824728"/>
            <a:ext cx="10972800" cy="850392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96601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solidFill>
                  <a:srgbClr val="2DD4BF"/>
                </a:solidFill>
                <a:latin typeface="Segoe UI"/>
              </a:rPr>
              <a:t>ZERO-TRUST ACTION LAYER   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F4F7FB"/>
                </a:solidFill>
                <a:latin typeface="Segoe UI"/>
              </a:rPr>
              <a:t>🚨 Voice-clone warning   •   🟥 Deceptive-field bounding &amp; highlight   •   🔐 OTP field blur + clipboard masking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QUALCOMM AI HUB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7FB"/>
                </a:solidFill>
                <a:latin typeface="Segoe UI"/>
              </a:rPr>
              <a:t>Model Stack — Quantized for the NPU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972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37360"/>
          <a:ext cx="10972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109728" marR="73152" marT="54864" marB="36576"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Segoe UI"/>
                        </a:rPr>
                        <a:t>AI Hub Model</a:t>
                      </a:r>
                    </a:p>
                  </a:txBody>
                  <a:tcPr marL="109728" marR="73152" marT="54864" marB="36576"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Segoe UI"/>
                        </a:rPr>
                        <a:t>Quantization</a:t>
                      </a:r>
                    </a:p>
                  </a:txBody>
                  <a:tcPr marL="109728" marR="73152" marT="54864" marB="36576"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Segoe UI"/>
                        </a:rPr>
                        <a:t>NPU Role / Functionality</a:t>
                      </a:r>
                    </a:p>
                  </a:txBody>
                  <a:tcPr marL="109728" marR="73152" marT="54864" marB="36576" anchor="ctr"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F7FB"/>
                          </a:solidFill>
                          <a:latin typeface="Segoe UI"/>
                        </a:rPr>
                        <a:t>VoiceRadar</a:t>
                      </a:r>
                    </a:p>
                  </a:txBody>
                  <a:tcPr marL="109728" marR="73152" marT="54864" marB="36576" anchor="ctr"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B8"/>
                          </a:solidFill>
                          <a:latin typeface="Segoe UI"/>
                        </a:rPr>
                        <a:t>Conformer / Whisper-Tiny</a:t>
                      </a:r>
                    </a:p>
                  </a:txBody>
                  <a:tcPr marL="109728" marR="73152" marT="54864" marB="36576" anchor="ctr"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B8"/>
                          </a:solidFill>
                          <a:latin typeface="Segoe UI"/>
                        </a:rPr>
                        <a:t>W8A8 (HTP)</a:t>
                      </a:r>
                    </a:p>
                  </a:txBody>
                  <a:tcPr marL="109728" marR="73152" marT="54864" marB="36576" anchor="ctr"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B8"/>
                          </a:solidFill>
                          <a:latin typeface="Segoe UI"/>
                        </a:rPr>
                        <a:t>Anti-spoofing — vocoder artifacts &amp; synthetic harmonic phase anomalies, sub-20 ms per audio buffer.</a:t>
                      </a:r>
                    </a:p>
                  </a:txBody>
                  <a:tcPr marL="109728" marR="73152" marT="54864" marB="36576" anchor="ctr">
                    <a:solidFill>
                      <a:srgbClr val="17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F7FB"/>
                          </a:solidFill>
                          <a:latin typeface="Segoe UI"/>
                        </a:rPr>
                        <a:t>Visual Interceptor</a:t>
                      </a:r>
                    </a:p>
                  </a:txBody>
                  <a:tcPr marL="109728" marR="73152" marT="54864" marB="36576" anchor="ctr"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B8"/>
                          </a:solidFill>
                          <a:latin typeface="Segoe UI"/>
                        </a:rPr>
                        <a:t>YOLOv11-Nano / MobileNet</a:t>
                      </a:r>
                    </a:p>
                  </a:txBody>
                  <a:tcPr marL="109728" marR="73152" marT="54864" marB="36576" anchor="ctr"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B8"/>
                          </a:solidFill>
                          <a:latin typeface="Segoe UI"/>
                        </a:rPr>
                        <a:t>INT8</a:t>
                      </a:r>
                    </a:p>
                  </a:txBody>
                  <a:tcPr marL="109728" marR="73152" marT="54864" marB="36576" anchor="ctr"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B8"/>
                          </a:solidFill>
                          <a:latin typeface="Segoe UI"/>
                        </a:rPr>
                        <a:t>Active UI scanning at 15 FPS — flags phishing overlays, malicious QR codes, command-prompt injections.</a:t>
                      </a:r>
                    </a:p>
                  </a:txBody>
                  <a:tcPr marL="109728" marR="73152" marT="54864" marB="36576" anchor="ctr"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F7FB"/>
                          </a:solidFill>
                          <a:latin typeface="Segoe UI"/>
                        </a:rPr>
                        <a:t>Conversational Guard</a:t>
                      </a:r>
                    </a:p>
                  </a:txBody>
                  <a:tcPr marL="109728" marR="73152" marT="54864" marB="36576" anchor="ctr"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B8"/>
                          </a:solidFill>
                          <a:latin typeface="Segoe UI"/>
                        </a:rPr>
                        <a:t>Llama 3.2 1B / Phi-3.5-mini</a:t>
                      </a:r>
                    </a:p>
                  </a:txBody>
                  <a:tcPr marL="109728" marR="73152" marT="54864" marB="36576" anchor="ctr"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B8"/>
                          </a:solidFill>
                          <a:latin typeface="Segoe UI"/>
                        </a:rPr>
                        <a:t>INT4 · QNN GenAI</a:t>
                      </a:r>
                    </a:p>
                  </a:txBody>
                  <a:tcPr marL="109728" marR="73152" marT="54864" marB="36576" anchor="ctr"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B8"/>
                          </a:solidFill>
                          <a:latin typeface="Segoe UI"/>
                        </a:rPr>
                        <a:t>Real-time transcript intent reasoning — detects 2FA-token demands, remote-desk installs, extortion patterns.</a:t>
                      </a:r>
                    </a:p>
                  </a:txBody>
                  <a:tcPr marL="109728" marR="73152" marT="54864" marB="36576" anchor="ctr">
                    <a:solidFill>
                      <a:srgbClr val="17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486400"/>
            <a:ext cx="10972800" cy="105156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D4BF"/>
                </a:solidFill>
                <a:latin typeface="Segoe UI"/>
              </a:rPr>
              <a:t>Design principle:  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7FB"/>
                </a:solidFill>
                <a:latin typeface="Segoe UI"/>
              </a:rPr>
              <a:t>every model is pulled from the Qualcomm AI Hub, pre-quantized (INT4–W8A8), and compiled once for the Hexagon HTP backend — no retraining, no cloud dependency.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PERFORMANCE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7FB"/>
                </a:solidFill>
                <a:latin typeface="Segoe UI"/>
              </a:rPr>
              <a:t>Hexagon NPU vs. Traditional x86 (AVX2)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972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07</a:t>
            </a:r>
          </a:p>
        </p:txBody>
      </p:sp>
      <p:pic>
        <p:nvPicPr>
          <p:cNvPr id="8" name="Picture 7" descr="npu_vs_x86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11201400" cy="235531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166360"/>
            <a:ext cx="10972800" cy="123444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2DD4BF"/>
                </a:solidFill>
                <a:latin typeface="Segoe UI"/>
              </a:rPr>
              <a:t>The moat:  </a:t>
            </a:r>
          </a:p>
          <a:p>
            <a:pPr algn="l">
              <a:lnSpc>
                <a:spcPct val="120000"/>
              </a:lnSpc>
            </a:pPr>
            <a:r>
              <a:rPr sz="1350" b="0" dirty="0">
                <a:solidFill>
                  <a:srgbClr val="F4F7FB"/>
                </a:solidFill>
                <a:latin typeface="Segoe UI"/>
              </a:rPr>
              <a:t>sub-30 </a:t>
            </a:r>
            <a:r>
              <a:rPr sz="1350" b="0" dirty="0" err="1">
                <a:solidFill>
                  <a:srgbClr val="F4F7FB"/>
                </a:solidFill>
                <a:latin typeface="Segoe UI"/>
              </a:rPr>
              <a:t>ms</a:t>
            </a:r>
            <a:r>
              <a:rPr sz="1350" b="0" dirty="0">
                <a:solidFill>
                  <a:srgbClr val="F4F7FB"/>
                </a:solidFill>
                <a:latin typeface="Segoe UI"/>
              </a:rPr>
              <a:t> end-to-end response at 1.75 W — protection that is imperceptible to the user, silent on fan acoustics, and invisible on the battery meter. An x86 CPU burns 16× the power for 6× less throughput.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END-TO-END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7FB"/>
                </a:solidFill>
                <a:latin typeface="Segoe UI"/>
              </a:rPr>
              <a:t>Silent Sentinel → Deterministic Zero-Trust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972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0972800" cy="73152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DD4BF"/>
                </a:solidFill>
                <a:latin typeface="Segoe UI"/>
              </a:rPr>
              <a:t>ALWAYS-ON: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4F7FB"/>
                </a:solidFill>
                <a:latin typeface="Segoe UI"/>
              </a:rPr>
              <a:t>Runs silently in the Windows system tray at negligible power (&lt; 1.8 W) — until a threat is detected.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3611880" cy="306324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283464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31546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4F7FB"/>
                </a:solidFill>
                <a:latin typeface="Segoe UI"/>
              </a:rPr>
              <a:t>🎙️ Synthetic Audio Warning</a:t>
            </a:r>
          </a:p>
          <a:p>
            <a:pPr algn="l">
              <a:lnSpc>
                <a:spcPct val="115000"/>
              </a:lnSpc>
            </a:pPr>
            <a:endParaRPr sz="1550" b="1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6B8"/>
                </a:solidFill>
                <a:latin typeface="Segoe UI"/>
              </a:rPr>
              <a:t>If an incoming caller's voice exhibits AI-cloning artifacts (vocoder signatures, phase anomalies), a persistent on-screen alert warns the user immediately — before any credentials are shared.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606040"/>
            <a:ext cx="3611880" cy="306324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2000" y="2834640"/>
            <a:ext cx="457200" cy="457200"/>
          </a:xfrm>
          <a:prstGeom prst="ellipse">
            <a:avLst/>
          </a:prstGeom>
          <a:solidFill>
            <a:srgbClr val="F5B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29000"/>
            <a:ext cx="31546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4F7FB"/>
                </a:solidFill>
                <a:latin typeface="Segoe UI"/>
              </a:rPr>
              <a:t>🟥 Deceptive Phish Bounding</a:t>
            </a:r>
          </a:p>
          <a:p>
            <a:pPr algn="l">
              <a:lnSpc>
                <a:spcPct val="115000"/>
              </a:lnSpc>
            </a:pPr>
            <a:endParaRPr sz="1550" b="1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6B8"/>
                </a:solidFill>
                <a:latin typeface="Segoe UI"/>
              </a:rPr>
              <a:t>Deceptive password inputs, credential overlays, and malicious QR codes are highlighted in high-contrast red bounding boxes — visually intercepting the click before it happens.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606040"/>
            <a:ext cx="3611880" cy="306324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75320" y="283464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429000"/>
            <a:ext cx="31546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4F7FB"/>
                </a:solidFill>
                <a:latin typeface="Segoe UI"/>
              </a:rPr>
              <a:t>🔐 Intent Intercept &amp; Safeguard</a:t>
            </a:r>
          </a:p>
          <a:p>
            <a:pPr algn="l">
              <a:lnSpc>
                <a:spcPct val="115000"/>
              </a:lnSpc>
            </a:pPr>
            <a:endParaRPr sz="1550" b="1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6B8"/>
                </a:solidFill>
                <a:latin typeface="Segoe UI"/>
              </a:rPr>
              <a:t>When the local Llama 3.2 engine flags extortion intent (2FA demands, terminal script execution), it instantly blurs OTP credential fields and masks the Windows clipboard.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DIFFERENTIATION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7FB"/>
                </a:solidFill>
                <a:latin typeface="Segoe UI"/>
              </a:rPr>
              <a:t>Why SnapSentry Wins on Snapdragon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10972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6B8"/>
                </a:solidFill>
                <a:latin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846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F4F7FB"/>
                </a:solidFill>
                <a:latin typeface="Segoe UI"/>
              </a:rPr>
              <a:t>🛡️  Unbreachable Privacy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9AA6B8"/>
                </a:solidFill>
                <a:latin typeface="Segoe UI"/>
              </a:rPr>
              <a:t>Zero data egress — audio, screen, and transcripts never leave the laptop. Air-gapped by architecture, not by policy.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10512"/>
            <a:ext cx="4846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F4F7FB"/>
                </a:solidFill>
                <a:latin typeface="Segoe UI"/>
              </a:rPr>
              <a:t>⚡  Real-Time by Physics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9AA6B8"/>
                </a:solidFill>
                <a:latin typeface="Segoe UI"/>
              </a:rPr>
              <a:t>Sub-30 ms on-device inference beats any cloud round-trip (500–2000 ms) by an order of magnitude.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46120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410712"/>
            <a:ext cx="4846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F4F7FB"/>
                </a:solidFill>
                <a:latin typeface="Segoe UI"/>
              </a:rPr>
              <a:t>🔋  All-Day Protection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9AA6B8"/>
                </a:solidFill>
                <a:latin typeface="Segoe UI"/>
              </a:rPr>
              <a:t>1.75 W background draw = &lt; 4% battery over 8 hours. No fans, no throttle, no user friction.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46120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3410712"/>
            <a:ext cx="4846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F4F7FB"/>
                </a:solidFill>
                <a:latin typeface="Segoe UI"/>
              </a:rPr>
              <a:t>🧩  Built on Qualcomm AI Hub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9AA6B8"/>
                </a:solidFill>
                <a:latin typeface="Segoe UI"/>
              </a:rPr>
              <a:t>Production-ready Conformer, YOLOv11-Nano, and Llama 3.2 1B models, pre-optimized for Hexagon HTP via ONNX Runtime QNN 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348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230368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THE VISION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F4F7FB"/>
                </a:solidFill>
                <a:latin typeface="Segoe UI"/>
              </a:rPr>
              <a:t>SnapSentry AI turns every Snapdragon HP PC into a self-defending endpoint — making deepfake voice fraud, on-screen phishing, and social engineering economically worthless for attackers.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1048</Words>
  <Application>Microsoft Office PowerPoint</Application>
  <PresentationFormat>Widescreen</PresentationFormat>
  <Paragraphs>156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DSE PY32893</cp:lastModifiedBy>
  <cp:revision>3</cp:revision>
  <dcterms:created xsi:type="dcterms:W3CDTF">2013-01-27T09:14:16Z</dcterms:created>
  <dcterms:modified xsi:type="dcterms:W3CDTF">2026-09-30T17:42:23Z</dcterms:modified>
  <cp:category/>
</cp:coreProperties>
</file>